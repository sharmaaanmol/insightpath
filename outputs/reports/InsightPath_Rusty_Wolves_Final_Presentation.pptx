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INSIGHTPATH</a:t>
            </a:r>
          </a:p>
          <a:p>
            <a:pPr>
              <a:spcBef>
                <a:spcPts val="1000"/>
              </a:spcBef>
              <a:defRPr sz="2400">
                <a:solidFill>
                  <a:srgbClr val="8DA9C4"/>
                </a:solidFill>
              </a:defRPr>
            </a:pPr>
            <a:r>
              <a:t>Evidence-Based Career-Readiness &amp; Progression Framework</a:t>
            </a:r>
          </a:p>
          <a:p>
            <a:pPr>
              <a:spcBef>
                <a:spcPts val="2000"/>
              </a:spcBef>
              <a:defRPr sz="1400">
                <a:solidFill>
                  <a:srgbClr val="DCE6F2"/>
                </a:solidFill>
              </a:defRPr>
            </a:pPr>
            <a:r>
              <a:t>A Multi-Lens Investigation of Market Demand, Junior Technical Velocity, and Senior Consulting Success</a:t>
            </a:r>
          </a:p>
          <a:p>
            <a:pPr>
              <a:spcBef>
                <a:spcPts val="3000"/>
              </a:spcBef>
              <a:defRPr sz="1200">
                <a:solidFill>
                  <a:srgbClr val="8DA9C4"/>
                </a:solidFill>
              </a:defRPr>
            </a:pPr>
            <a:r>
              <a:t>SAS CU Hackathon Round 2 Submission  |  Team: RUSTY WOLVES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34074"/>
                </a:solidFill>
              </a:defRPr>
            </a:pPr>
            <a:r>
              <a:t>INSIGHTPATH  |  SAS CU HACKATHON ROUND 2</a:t>
            </a:r>
          </a:p>
          <a:p>
            <a:pPr>
              <a:defRPr sz="2200" b="1">
                <a:solidFill>
                  <a:srgbClr val="0B2545"/>
                </a:solidFill>
              </a:defRPr>
            </a:pPr>
            <a:r>
              <a:t>The Core Problem: Fragmented Decision-Making Across the Talent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34074"/>
                </a:solidFill>
              </a:defRPr>
            </a:pPr>
            <a:r>
              <a:t>THE CENTRAL CHALLENGE:</a:t>
            </a:r>
          </a:p>
          <a:p>
            <a:pPr>
              <a:spcBef>
                <a:spcPts val="1400"/>
              </a:spcBef>
              <a:defRPr sz="1300">
                <a:solidFill>
                  <a:srgbClr val="212529"/>
                </a:solidFill>
              </a:defRPr>
            </a:pPr>
            <a:r>
              <a:t>• Data science career planning suffers from isolated silos: job market postings, junior technical ratings, and senior consulting performance are analyzed independently.</a:t>
            </a:r>
          </a:p>
          <a:p>
            <a:pPr>
              <a:spcBef>
                <a:spcPts val="1400"/>
              </a:spcBef>
              <a:defRPr sz="1300">
                <a:solidFill>
                  <a:srgbClr val="212529"/>
                </a:solidFill>
              </a:defRPr>
            </a:pPr>
            <a:r>
              <a:t>• Aspiring professionals grind algorithmic coding (LeetCode) under the false assumption that code syntax alone dictates promotion and compensation.</a:t>
            </a:r>
          </a:p>
          <a:p>
            <a:pPr>
              <a:spcBef>
                <a:spcPts val="1400"/>
              </a:spcBef>
              <a:defRPr sz="1300">
                <a:solidFill>
                  <a:srgbClr val="212529"/>
                </a:solidFill>
              </a:defRPr>
            </a:pPr>
            <a:r>
              <a:t>• Academic curricula heavily teach distributed infrastructure (Hadoop/Spark clusters) while dedicating zero credit hours to business data storytelling.</a:t>
            </a:r>
          </a:p>
          <a:p>
            <a:pPr>
              <a:spcBef>
                <a:spcPts val="1400"/>
              </a:spcBef>
              <a:defRPr sz="1300">
                <a:solidFill>
                  <a:srgbClr val="212529"/>
                </a:solidFill>
              </a:defRPr>
            </a:pPr>
            <a:r>
              <a:t>• Employers publish bloated 12-tool wishlists that inflate hiring friction, while relying on subjective bias for internal career advancement.</a:t>
            </a:r>
          </a:p>
          <a:p>
            <a:pPr>
              <a:spcBef>
                <a:spcPts val="1400"/>
              </a:spcBef>
              <a:defRPr sz="1300">
                <a:solidFill>
                  <a:srgbClr val="212529"/>
                </a:solidFill>
              </a:defRPr>
            </a:pPr>
            <a:r>
              <a:t>• THE INSIGHTPATH SOLUTION: Triangulate four independent datasets across 17,743 combined observations to build an operational, evidence-based Career-Readiness Framework.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34074"/>
                </a:solidFill>
              </a:defRPr>
            </a:pPr>
            <a:r>
              <a:t>INSIGHTPATH  |  SAS CU HACKATHON ROUND 2</a:t>
            </a:r>
          </a:p>
          <a:p>
            <a:pPr>
              <a:defRPr sz="2200" b="1">
                <a:solidFill>
                  <a:srgbClr val="0B2545"/>
                </a:solidFill>
              </a:defRPr>
            </a:pPr>
            <a:r>
              <a:t>Four Analytical Lenses: Methodological Triangulation Without Row Merging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8D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B2545"/>
                </a:solidFill>
              </a:defRPr>
            </a:pPr>
            <a:r>
              <a:t>DataScience Jobs</a:t>
            </a:r>
          </a:p>
          <a:p>
            <a:pPr>
              <a:defRPr sz="1100">
                <a:solidFill>
                  <a:srgbClr val="134074"/>
                </a:solidFill>
              </a:defRPr>
            </a:pPr>
            <a:r>
              <a:t>1,602 Requisitions</a:t>
            </a:r>
          </a:p>
          <a:p>
            <a:pPr>
              <a:spcBef>
                <a:spcPts val="800"/>
              </a:spcBef>
              <a:defRPr b="1" sz="1000">
                <a:solidFill>
                  <a:srgbClr val="28A745"/>
                </a:solidFill>
              </a:defRPr>
            </a:pPr>
            <a:r>
              <a:t>MACRO MARKET STRUCTURE</a:t>
            </a:r>
          </a:p>
          <a:p>
            <a:pPr>
              <a:spcBef>
                <a:spcPts val="1200"/>
              </a:spcBef>
              <a:defRPr sz="1050">
                <a:solidFill>
                  <a:srgbClr val="212529"/>
                </a:solidFill>
              </a:defRPr>
            </a:pPr>
            <a:r>
              <a:t>Linear salary elasticity (beta=1.98L/yr), employer concentration across 642 hiring orgs.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8D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B2545"/>
                </a:solidFill>
              </a:defRPr>
            </a:pPr>
            <a:r>
              <a:t>Analytics Jobs</a:t>
            </a:r>
          </a:p>
          <a:p>
            <a:pPr>
              <a:defRPr sz="1100">
                <a:solidFill>
                  <a:srgbClr val="134074"/>
                </a:solidFill>
              </a:defRPr>
            </a:pPr>
            <a:r>
              <a:t>15,841 Vacancies</a:t>
            </a:r>
          </a:p>
          <a:p>
            <a:pPr>
              <a:spcBef>
                <a:spcPts val="800"/>
              </a:spcBef>
              <a:defRPr b="1" sz="1000">
                <a:solidFill>
                  <a:srgbClr val="28A745"/>
                </a:solidFill>
              </a:defRPr>
            </a:pPr>
            <a:r>
              <a:t>MICRO SKILL ECOSYSTEM</a:t>
            </a:r>
          </a:p>
          <a:p>
            <a:pPr>
              <a:spcBef>
                <a:spcPts val="1200"/>
              </a:spcBef>
              <a:defRPr sz="1050">
                <a:solidFill>
                  <a:srgbClr val="212529"/>
                </a:solidFill>
              </a:defRPr>
            </a:pPr>
            <a:r>
              <a:t>Top-50 skills, tri-metro hubs (68.5%), premium salary (&gt;15L) odds ratios (Spark, ML, R, SAS).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8D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B2545"/>
                </a:solidFill>
              </a:defRPr>
            </a:pPr>
            <a:r>
              <a:t>JDS Skill Traits</a:t>
            </a:r>
          </a:p>
          <a:p>
            <a:pPr>
              <a:defRPr sz="1100">
                <a:solidFill>
                  <a:srgbClr val="134074"/>
                </a:solidFill>
              </a:defRPr>
            </a:pPr>
            <a:r>
              <a:t>139 Junior DS (1-3y)</a:t>
            </a:r>
          </a:p>
          <a:p>
            <a:pPr>
              <a:spcBef>
                <a:spcPts val="800"/>
              </a:spcBef>
              <a:defRPr b="1" sz="1000">
                <a:solidFill>
                  <a:srgbClr val="28A745"/>
                </a:solidFill>
              </a:defRPr>
            </a:pPr>
            <a:r>
              <a:t>TECHNICAL ADVANCEMENT</a:t>
            </a:r>
          </a:p>
          <a:p>
            <a:pPr>
              <a:spcBef>
                <a:spcPts val="1200"/>
              </a:spcBef>
              <a:defRPr sz="1050">
                <a:solidFill>
                  <a:srgbClr val="212529"/>
                </a:solidFill>
              </a:defRPr>
            </a:pPr>
            <a:r>
              <a:t>5 skill dimensions; Dashboard Storytelling (AOR=3.23) and Maths/Stats (AOR=3.65) drive salary hikes.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8DA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B2545"/>
                </a:solidFill>
              </a:defRPr>
            </a:pPr>
            <a:r>
              <a:t>SDS Personality</a:t>
            </a:r>
          </a:p>
          <a:p>
            <a:pPr>
              <a:defRPr sz="1100">
                <a:solidFill>
                  <a:srgbClr val="134074"/>
                </a:solidFill>
              </a:defRPr>
            </a:pPr>
            <a:r>
              <a:t>161 Senior DS</a:t>
            </a:r>
          </a:p>
          <a:p>
            <a:pPr>
              <a:spcBef>
                <a:spcPts val="800"/>
              </a:spcBef>
              <a:defRPr b="1" sz="1000">
                <a:solidFill>
                  <a:srgbClr val="28A745"/>
                </a:solidFill>
              </a:defRPr>
            </a:pPr>
            <a:r>
              <a:t>BEHAVIORAL LEADERSHIP</a:t>
            </a:r>
          </a:p>
          <a:p>
            <a:pPr>
              <a:spcBef>
                <a:spcPts val="1200"/>
              </a:spcBef>
              <a:defRPr sz="1050">
                <a:solidFill>
                  <a:srgbClr val="212529"/>
                </a:solidFill>
              </a:defRPr>
            </a:pPr>
            <a:r>
              <a:t>Big Five traits; Openness (AOR=7.72) and Conscientiousness (AOR=8.11) predict consulting success.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34074"/>
                </a:solidFill>
              </a:defRPr>
            </a:pPr>
            <a:r>
              <a:t>INSIGHTPATH  |  SAS CU HACKATHON ROUND 2</a:t>
            </a:r>
          </a:p>
          <a:p>
            <a:pPr>
              <a:defRPr sz="2200" b="1">
                <a:solidFill>
                  <a:srgbClr val="0B2545"/>
                </a:solidFill>
              </a:defRPr>
            </a:pPr>
            <a:r>
              <a:t>Macro Market Demand &amp; Role Concentration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34074"/>
                </a:solidFill>
              </a:defRPr>
            </a:pPr>
            <a:r>
              <a:t>KEY MACRO INSIGHTS:</a:t>
            </a:r>
          </a:p>
          <a:p>
            <a:pPr>
              <a:spcBef>
                <a:spcPts val="1400"/>
              </a:spcBef>
              <a:defRPr sz="1250">
                <a:solidFill>
                  <a:srgbClr val="212529"/>
                </a:solidFill>
              </a:defRPr>
            </a:pPr>
            <a:r>
              <a:t>• 72.4% of market requisitions concentrate in 3 standardized roles: Data Scientist (35.2%), ML Engineer (21.4%), and Data Analyst (15.8%).</a:t>
            </a:r>
          </a:p>
          <a:p>
            <a:pPr>
              <a:spcBef>
                <a:spcPts val="1400"/>
              </a:spcBef>
              <a:defRPr sz="1250">
                <a:solidFill>
                  <a:srgbClr val="212529"/>
                </a:solidFill>
              </a:defRPr>
            </a:pPr>
            <a:r>
              <a:t>• Hiring demand is spread across 642 unique organizations, with top-tier technology and consulting enterprises dominating high-volume requisitions.</a:t>
            </a:r>
          </a:p>
          <a:p>
            <a:pPr>
              <a:spcBef>
                <a:spcPts val="1400"/>
              </a:spcBef>
              <a:defRPr sz="1250">
                <a:solidFill>
                  <a:srgbClr val="212529"/>
                </a:solidFill>
              </a:defRPr>
            </a:pPr>
            <a:r>
              <a:t>• Experience barriers establish rigid market filters: 0-2 years (Entry), 2-5 years (Junior/Mid), 5-8 years (Senior), 8+ years (Leadership).</a:t>
            </a:r>
          </a:p>
          <a:p>
            <a:pPr>
              <a:spcBef>
                <a:spcPts val="1400"/>
              </a:spcBef>
              <a:defRPr sz="1250">
                <a:solidFill>
                  <a:srgbClr val="212529"/>
                </a:solidFill>
              </a:defRPr>
            </a:pPr>
            <a:r>
              <a:t>• Geographic concentration: Bengaluru (43.8%), NCR (14.2%), and Mumbai (10.5%) form the national analytics corridor.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34074"/>
                </a:solidFill>
              </a:defRPr>
            </a:pPr>
            <a:r>
              <a:t>INSIGHTPATH  |  SAS CU HACKATHON ROUND 2</a:t>
            </a:r>
          </a:p>
          <a:p>
            <a:pPr>
              <a:defRPr sz="2200" b="1">
                <a:solidFill>
                  <a:srgbClr val="0B2545"/>
                </a:solidFill>
              </a:defRPr>
            </a:pPr>
            <a:r>
              <a:t>Experience Elasticity &amp; Salary Spread 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34074"/>
                </a:solidFill>
              </a:defRPr>
            </a:pPr>
            <a:r>
              <a:t>EMPIRICAL FINDINGS (OLS REGRESSION):</a:t>
            </a:r>
          </a:p>
          <a:p>
            <a:pPr>
              <a:spcBef>
                <a:spcPts val="1200"/>
              </a:spcBef>
              <a:defRPr sz="1200">
                <a:solidFill>
                  <a:srgbClr val="212529"/>
                </a:solidFill>
              </a:defRPr>
            </a:pPr>
            <a:r>
              <a:t>• Advertised average salary scales at beta = 1.98 Lakhs INR per year of required experience (p &lt; 1e-134, R2 = 0.352, HC3 robust standard errors).</a:t>
            </a:r>
          </a:p>
          <a:p>
            <a:pPr>
              <a:spcBef>
                <a:spcPts val="1200"/>
              </a:spcBef>
              <a:defRPr sz="1200">
                <a:solidFill>
                  <a:srgbClr val="212529"/>
                </a:solidFill>
              </a:defRPr>
            </a:pPr>
            <a:r>
              <a:t>• Semi-log elasticity confirms a constant 15.2% proportional salary increase per additional required year (p &lt; 1e-115).</a:t>
            </a:r>
          </a:p>
          <a:p>
            <a:pPr>
              <a:spcBef>
                <a:spcPts val="1200"/>
              </a:spcBef>
              <a:defRPr sz="1200">
                <a:solidFill>
                  <a:srgbClr val="212529"/>
                </a:solidFill>
              </a:defRPr>
            </a:pPr>
            <a:r>
              <a:t>• Strong monotonic rank correlation across both market datasets: DataScience Jobs (Spearman rho = 0.633) and Analytics Jobs (Spearman rho = 0.704).</a:t>
            </a:r>
          </a:p>
          <a:p>
            <a:pPr>
              <a:spcBef>
                <a:spcPts val="1200"/>
              </a:spcBef>
              <a:defRPr sz="1200">
                <a:solidFill>
                  <a:srgbClr val="212529"/>
                </a:solidFill>
              </a:defRPr>
            </a:pPr>
            <a:r>
              <a:t>• Salary spread widens dramatically beyond 5 years experience (from +/- 3L at entry to +/- 18L at senior levels), proving that skills and behavior differentiate senior pay.</a:t>
            </a:r>
          </a:p>
        </p:txBody>
      </p:sp>
      <p:pic>
        <p:nvPicPr>
          <p:cNvPr id="4" name="Picture 3" descr="fig20_h5_experience_salary_regre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26070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34074"/>
                </a:solidFill>
              </a:defRPr>
            </a:pPr>
            <a:r>
              <a:t>INSIGHTPATH  |  SAS CU HACKATHON ROUND 2</a:t>
            </a:r>
          </a:p>
          <a:p>
            <a:pPr>
              <a:defRPr sz="2200" b="1">
                <a:solidFill>
                  <a:srgbClr val="0B2545"/>
                </a:solidFill>
              </a:defRPr>
            </a:pPr>
            <a:r>
              <a:t>The Skill Dichotomy: Foundational Table Stakes vs Premium Accelerators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34074"/>
                </a:solidFill>
              </a:defRPr>
            </a:pPr>
            <a:r>
              <a:t>MICRO SKILL ANALYSIS (N = 15,841):</a:t>
            </a:r>
          </a:p>
          <a:p>
            <a:pPr>
              <a:spcBef>
                <a:spcPts val="1200"/>
              </a:spcBef>
              <a:defRPr sz="1200">
                <a:solidFill>
                  <a:srgbClr val="212529"/>
                </a:solidFill>
              </a:defRPr>
            </a:pPr>
            <a:r>
              <a:t>• TABLE STAKES (High Prevalence, Neutral Pay): SQL (48.2%) and Python (39.5%) are mandatory screening gates but command zero independent wage premium (AOR ~1.0, p &gt; 0.50).</a:t>
            </a:r>
          </a:p>
          <a:p>
            <a:pPr>
              <a:spcBef>
                <a:spcPts val="1200"/>
              </a:spcBef>
              <a:defRPr sz="1200">
                <a:solidFill>
                  <a:srgbClr val="212529"/>
                </a:solidFill>
              </a:defRPr>
            </a:pPr>
            <a:r>
              <a:t>• PREMIUM ACCELERATORS (47% - 59% Wage Premium): Distributed Spark (AOR = 1.59, p = 0.002), Machine Learning (AOR = 1.58, p = 0.0002), R (AOR = 1.56, p &lt; 0.0001), and SAS (AOR = 1.47, p = 0.0003).</a:t>
            </a:r>
          </a:p>
          <a:p>
            <a:pPr>
              <a:spcBef>
                <a:spcPts val="1200"/>
              </a:spcBef>
              <a:defRPr sz="1200">
                <a:solidFill>
                  <a:srgbClr val="212529"/>
                </a:solidFill>
              </a:defRPr>
            </a:pPr>
            <a:r>
              <a:t>• Multivariable logistic modeling demonstrates that candidates combining Python with specialized tools breach the 15L+ premium compensation bracket.</a:t>
            </a:r>
          </a:p>
        </p:txBody>
      </p:sp>
      <p:pic>
        <p:nvPicPr>
          <p:cNvPr id="4" name="Picture 3" descr="fig22_h6_skill_odds_rat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27945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34074"/>
                </a:solidFill>
              </a:defRPr>
            </a:pPr>
            <a:r>
              <a:t>INSIGHTPATH  |  SAS CU HACKATHON ROUND 2</a:t>
            </a:r>
          </a:p>
          <a:p>
            <a:pPr>
              <a:defRPr sz="2200" b="1">
                <a:solidFill>
                  <a:srgbClr val="0B2545"/>
                </a:solidFill>
              </a:defRPr>
            </a:pPr>
            <a:r>
              <a:t>Junior Data Scientist Advancement: The Primacy of Storytelling &amp; 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34074"/>
                </a:solidFill>
              </a:defRPr>
            </a:pPr>
            <a:r>
              <a:t>INFERENTIAL FINDINGS (H1 &amp; H2):</a:t>
            </a:r>
          </a:p>
          <a:p>
            <a:pPr>
              <a:spcBef>
                <a:spcPts val="1200"/>
              </a:spcBef>
              <a:defRPr sz="1200">
                <a:solidFill>
                  <a:srgbClr val="212529"/>
                </a:solidFill>
              </a:defRPr>
            </a:pPr>
            <a:r>
              <a:t>• Maths &amp; Statistics (d = 1.05) and Dashboarding/Storytelling (d = 1.04) exhibit massive, statistically significant group differences between hike tiers (q &lt; 0.001).</a:t>
            </a:r>
          </a:p>
          <a:p>
            <a:pPr>
              <a:spcBef>
                <a:spcPts val="1200"/>
              </a:spcBef>
              <a:defRPr sz="1200">
                <a:solidFill>
                  <a:srgbClr val="212529"/>
                </a:solidFill>
              </a:defRPr>
            </a:pPr>
            <a:r>
              <a:t>• Multivariable Logistic Regression: Maths/Stats (AOR = 4.65) and Storytelling (AOR = 3.54) independently drive promotion velocity.</a:t>
            </a:r>
          </a:p>
          <a:p>
            <a:pPr>
              <a:spcBef>
                <a:spcPts val="1200"/>
              </a:spcBef>
              <a:defRPr sz="1200">
                <a:solidFill>
                  <a:srgbClr val="212529"/>
                </a:solidFill>
              </a:defRPr>
            </a:pPr>
            <a:r>
              <a:t>• THE BIG DATA ILLUSION: Big Data skills show zero statistically significant difference between high and low hike cohorts (p = 0.217).</a:t>
            </a:r>
          </a:p>
          <a:p>
            <a:pPr>
              <a:spcBef>
                <a:spcPts val="1200"/>
              </a:spcBef>
              <a:defRPr sz="1200">
                <a:solidFill>
                  <a:srgbClr val="212529"/>
                </a:solidFill>
              </a:defRPr>
            </a:pPr>
            <a:r>
              <a:t>• Coding skills show ceiling compression (27.3% at 5.0), acting as a qualifying baseline rather than a compensation differentiator.</a:t>
            </a:r>
          </a:p>
        </p:txBody>
      </p:sp>
      <p:pic>
        <p:nvPicPr>
          <p:cNvPr id="4" name="Picture 3" descr="fig16_h1_jds_skill_eff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24278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34074"/>
                </a:solidFill>
              </a:defRPr>
            </a:pPr>
            <a:r>
              <a:t>INSIGHTPATH  |  SAS CU HACKATHON ROUND 2</a:t>
            </a:r>
          </a:p>
          <a:p>
            <a:pPr>
              <a:defRPr sz="2200" b="1">
                <a:solidFill>
                  <a:srgbClr val="0B2545"/>
                </a:solidFill>
              </a:defRPr>
            </a:pPr>
            <a:r>
              <a:t>Junior Predictive Model: 90.35% ROC-AUC &amp; Parsimonious Sufficiency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34074"/>
                </a:solidFill>
              </a:defRPr>
            </a:pPr>
            <a:r>
              <a:t>SUPERVISED CLASSIFICATION (25 SPLITS CV):</a:t>
            </a:r>
          </a:p>
          <a:p>
            <a:pPr>
              <a:spcBef>
                <a:spcPts val="1200"/>
              </a:spcBef>
              <a:defRPr sz="1200">
                <a:solidFill>
                  <a:srgbClr val="212529"/>
                </a:solidFill>
              </a:defRPr>
            </a:pPr>
            <a:r>
              <a:t>• Champion Model: Ridge Logistic Regression (L2) achieves out-of-sample ROC-AUC = 0.9035 (+/- 0.0594), Macro F1 = 0.8506, Accuracy = 85.29%.</a:t>
            </a:r>
          </a:p>
          <a:p>
            <a:pPr>
              <a:spcBef>
                <a:spcPts val="1200"/>
              </a:spcBef>
              <a:defRPr sz="1200">
                <a:solidFill>
                  <a:srgbClr val="212529"/>
                </a:solidFill>
              </a:defRPr>
            </a:pPr>
            <a:r>
              <a:t>• Baseline Lift: +32.78 percentage points accuracy lift over naive majority guessing (52.51%).</a:t>
            </a:r>
          </a:p>
          <a:p>
            <a:pPr>
              <a:spcBef>
                <a:spcPts val="1200"/>
              </a:spcBef>
              <a:defRPr sz="1200">
                <a:solidFill>
                  <a:srgbClr val="212529"/>
                </a:solidFill>
              </a:defRPr>
            </a:pPr>
            <a:r>
              <a:t>• Held-Out Permutation Importance: Storytelling ranks #1 (0.1062) across 100% of CV splits; Maths/Stats ranks #2 (0.0654) in 96% of splits; Big Data ranks last (0.0107).</a:t>
            </a:r>
          </a:p>
          <a:p>
            <a:pPr>
              <a:spcBef>
                <a:spcPts val="1200"/>
              </a:spcBef>
              <a:defRPr sz="1200">
                <a:solidFill>
                  <a:srgbClr val="212529"/>
                </a:solidFill>
              </a:defRPr>
            </a:pPr>
            <a:r>
              <a:t>• PARSIMONIOUS SUFFICIENCY: A 2-feature model (Maths + Storytelling) achieves ROC-AUC = 0.8741, retaining 96.75% of full model power.</a:t>
            </a:r>
          </a:p>
        </p:txBody>
      </p:sp>
      <p:pic>
        <p:nvPicPr>
          <p:cNvPr id="4" name="Picture 3" descr="fig23_model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3848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34074"/>
                </a:solidFill>
              </a:defRPr>
            </a:pPr>
            <a:r>
              <a:t>INSIGHTPATH  |  SAS CU HACKATHON ROUND 2</a:t>
            </a:r>
          </a:p>
          <a:p>
            <a:pPr>
              <a:defRPr sz="2200" b="1">
                <a:solidFill>
                  <a:srgbClr val="0B2545"/>
                </a:solidFill>
              </a:defRPr>
            </a:pPr>
            <a:r>
              <a:t>Senior Consulting Success: The Dominance of Conscientiousness &amp; Openness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34074"/>
                </a:solidFill>
              </a:defRPr>
            </a:pPr>
            <a:r>
              <a:t>PSYCHOMETRIC INFERENTIAL EVIDENCE (H3 &amp; H4):</a:t>
            </a:r>
          </a:p>
          <a:p>
            <a:pPr>
              <a:spcBef>
                <a:spcPts val="1200"/>
              </a:spcBef>
              <a:defRPr sz="1200">
                <a:solidFill>
                  <a:srgbClr val="212529"/>
                </a:solidFill>
              </a:defRPr>
            </a:pPr>
            <a:r>
              <a:t>• Massive effect sizes separate high and low success consultants: Conscientiousness (d = 1.85, p &lt; 1e-15) and Openness to Experience (d = 1.80, p &lt; 1e-16).</a:t>
            </a:r>
          </a:p>
          <a:p>
            <a:pPr>
              <a:spcBef>
                <a:spcPts val="1200"/>
              </a:spcBef>
              <a:defRPr sz="1200">
                <a:solidFill>
                  <a:srgbClr val="212529"/>
                </a:solidFill>
              </a:defRPr>
            </a:pPr>
            <a:r>
              <a:t>• Extraversion demonstrates strong positive association (d = 1.13, p = 5.79e-10); Agreeableness is moderate (d = 0.61).</a:t>
            </a:r>
          </a:p>
          <a:p>
            <a:pPr>
              <a:spcBef>
                <a:spcPts val="1200"/>
              </a:spcBef>
              <a:defRPr sz="1200">
                <a:solidFill>
                  <a:srgbClr val="212529"/>
                </a:solidFill>
              </a:defRPr>
            </a:pPr>
            <a:r>
              <a:t>• Multivariable Odds Ratios: Conscientiousness (AOR = 26.79) and Openness (AOR = 20.97) dominate success classification.</a:t>
            </a:r>
          </a:p>
          <a:p>
            <a:pPr>
              <a:spcBef>
                <a:spcPts val="1200"/>
              </a:spcBef>
              <a:defRPr sz="1200">
                <a:solidFill>
                  <a:srgbClr val="212529"/>
                </a:solidFill>
              </a:defRPr>
            </a:pPr>
            <a:r>
              <a:t>• THE NEUROTICISM PARADOX: Neuroticism shows zero bivariate group difference (d = -0.012, p = 0.454), acting as a multivariable suppressor.</a:t>
            </a:r>
          </a:p>
        </p:txBody>
      </p:sp>
      <p:pic>
        <p:nvPicPr>
          <p:cNvPr id="4" name="Picture 3" descr="fig18_h3_sds_personality_eff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23739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34074"/>
                </a:solidFill>
              </a:defRPr>
            </a:pPr>
            <a:r>
              <a:t>INSIGHTPATH  |  SAS CU HACKATHON ROUND 2</a:t>
            </a:r>
          </a:p>
          <a:p>
            <a:pPr>
              <a:defRPr sz="2200" b="1">
                <a:solidFill>
                  <a:srgbClr val="0B2545"/>
                </a:solidFill>
              </a:defRPr>
            </a:pPr>
            <a:r>
              <a:t>Senior Predictive Model: Leakage-Safe Grouped Cross-Validation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34074"/>
                </a:solidFill>
              </a:defRPr>
            </a:pPr>
            <a:r>
              <a:t>SUPERVISED CLASSIFICATION (GROUPED CV):</a:t>
            </a:r>
          </a:p>
          <a:p>
            <a:pPr>
              <a:spcBef>
                <a:spcPts val="1200"/>
              </a:spcBef>
              <a:defRPr sz="1200">
                <a:solidFill>
                  <a:srgbClr val="212529"/>
                </a:solidFill>
              </a:defRPr>
            </a:pPr>
            <a:r>
              <a:t>• CRITICAL LEAKAGE CONTROL: StratifiedGroupKFold on subject ID guarantees duplicate subject twins never span train/test folds (zero clone leakage).</a:t>
            </a:r>
          </a:p>
          <a:p>
            <a:pPr>
              <a:spcBef>
                <a:spcPts val="1200"/>
              </a:spcBef>
              <a:defRPr sz="1200">
                <a:solidFill>
                  <a:srgbClr val="212529"/>
                </a:solidFill>
              </a:defRPr>
            </a:pPr>
            <a:r>
              <a:t>• Champion Model: Ridge Logistic Regression achieves out-of-sample ROC-AUC = 0.9699 (+/- 0.0268), Macro F1 = 0.9259, Accuracy = 92.68% (+39.9% baseline lift).</a:t>
            </a:r>
          </a:p>
          <a:p>
            <a:pPr>
              <a:spcBef>
                <a:spcPts val="1200"/>
              </a:spcBef>
              <a:defRPr sz="1200">
                <a:solidFill>
                  <a:srgbClr val="212529"/>
                </a:solidFill>
              </a:defRPr>
            </a:pPr>
            <a:r>
              <a:t>• Decision Tree Rules: Pruned CART tree extracts 4 transparent rules (90.44% accuracy) rooted in Openness (&gt;38.50) and Conscientiousness (&gt;36.50).</a:t>
            </a:r>
          </a:p>
          <a:p>
            <a:pPr>
              <a:spcBef>
                <a:spcPts val="1200"/>
              </a:spcBef>
              <a:defRPr sz="1200">
                <a:solidFill>
                  <a:srgbClr val="212529"/>
                </a:solidFill>
              </a:defRPr>
            </a:pPr>
            <a:r>
              <a:t>• Sensitivity Invariance: Deduplicated cohort (N=152) yields identical rankings and Delta ROC-AUC = 0.0049 &lt;= 0.02 (Highly Robust).</a:t>
            </a:r>
          </a:p>
        </p:txBody>
      </p:sp>
      <p:pic>
        <p:nvPicPr>
          <p:cNvPr id="4" name="Picture 3" descr="fig33_sds_model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34074"/>
                </a:solidFill>
              </a:defRPr>
            </a:pPr>
            <a:r>
              <a:t>INSIGHTPATH  |  SAS CU HACKATHON ROUND 2</a:t>
            </a:r>
          </a:p>
          <a:p>
            <a:pPr>
              <a:defRPr sz="2200" b="1">
                <a:solidFill>
                  <a:srgbClr val="0B2545"/>
                </a:solidFill>
              </a:defRPr>
            </a:pPr>
            <a:r>
              <a:t>The Integrated Career-Stage Progression Architecture</a:t>
            </a:r>
          </a:p>
        </p:txBody>
      </p:sp>
      <p:pic>
        <p:nvPicPr>
          <p:cNvPr id="3" name="Picture 2" descr="fig41_career_stage_evidenc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448495" cy="51966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34074"/>
                </a:solidFill>
              </a:defRPr>
            </a:pPr>
            <a:r>
              <a:t>INSIGHTPATH  |  SAS CU HACKATHON ROUND 2</a:t>
            </a:r>
          </a:p>
          <a:p>
            <a:pPr>
              <a:defRPr sz="2200" b="1">
                <a:solidFill>
                  <a:srgbClr val="0B2545"/>
                </a:solidFill>
              </a:defRPr>
            </a:pPr>
            <a:r>
              <a:t>The Four-Quadrant Talent Matrix (Technical vs Storytelling)</a:t>
            </a:r>
          </a:p>
        </p:txBody>
      </p:sp>
      <p:pic>
        <p:nvPicPr>
          <p:cNvPr id="3" name="Picture 2" descr="fig45_four_quadrant_talen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371600"/>
            <a:ext cx="57607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34074"/>
                </a:solidFill>
              </a:defRPr>
            </a:pPr>
            <a:r>
              <a:t>INSIGHTPATH  |  SAS CU HACKATHON ROUND 2</a:t>
            </a:r>
          </a:p>
          <a:p>
            <a:pPr>
              <a:defRPr sz="2200" b="1">
                <a:solidFill>
                  <a:srgbClr val="0B2545"/>
                </a:solidFill>
              </a:defRPr>
            </a:pPr>
            <a:r>
              <a:t>Evidence-to-Action Blueprints for Primary Stakeholders</a:t>
            </a:r>
          </a:p>
        </p:txBody>
      </p:sp>
      <p:pic>
        <p:nvPicPr>
          <p:cNvPr id="3" name="Picture 2" descr="fig47_stakeholder_action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448495" cy="5774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34074"/>
                </a:solidFill>
              </a:defRPr>
            </a:pPr>
            <a:r>
              <a:t>INSIGHTPATH  |  SAS CU HACKATHON ROUND 2</a:t>
            </a:r>
          </a:p>
          <a:p>
            <a:pPr>
              <a:defRPr sz="2200" b="1">
                <a:solidFill>
                  <a:srgbClr val="0B2545"/>
                </a:solidFill>
              </a:defRPr>
            </a:pPr>
            <a:r>
              <a:t>Methodological Limitations &amp; Mandatory Ethical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B42828"/>
                </a:solidFill>
              </a:defRPr>
            </a:pPr>
            <a:r>
              <a:t>ETHICAL SAFEGUARDS (RULE G):</a:t>
            </a:r>
          </a:p>
          <a:p>
            <a:pPr>
              <a:spcBef>
                <a:spcPts val="1400"/>
              </a:spcBef>
              <a:defRPr sz="1250">
                <a:solidFill>
                  <a:srgbClr val="212529"/>
                </a:solidFill>
              </a:defRPr>
            </a:pPr>
            <a:r>
              <a:t>• STRICT BAN ON PERSONALITY GATEKEEPING: Big Five models must NEVER be deployed as automated recruitment pre-screens, termination scores, or promotion hurdles.</a:t>
            </a:r>
          </a:p>
          <a:p>
            <a:pPr>
              <a:spcBef>
                <a:spcPts val="1400"/>
              </a:spcBef>
              <a:defRPr sz="1250">
                <a:solidFill>
                  <a:srgbClr val="212529"/>
                </a:solidFill>
              </a:defRPr>
            </a:pPr>
            <a:r>
              <a:t>• DEVELOPMENTAL COACHING ONLY: Personality insights serve exclusively for self-awareness, communication coaching, and mentoring client adaptability.</a:t>
            </a:r>
          </a:p>
          <a:p>
            <a:pPr>
              <a:spcBef>
                <a:spcPts val="1400"/>
              </a:spcBef>
              <a:defRPr sz="1250">
                <a:solidFill>
                  <a:srgbClr val="212529"/>
                </a:solidFill>
              </a:defRPr>
            </a:pPr>
            <a:r>
              <a:t>• NON-CAUSAL LANGUAGE GOVERNANCE: All findings report observed statistical associations and out-of-sample predictive utility; we do not claim causal mechanisms.</a:t>
            </a:r>
          </a:p>
          <a:p>
            <a:pPr>
              <a:spcBef>
                <a:spcPts val="1400"/>
              </a:spcBef>
              <a:defRPr sz="1250">
                <a:solidFill>
                  <a:srgbClr val="212529"/>
                </a:solidFill>
              </a:defRPr>
            </a:pPr>
            <a:r>
              <a:t>• SAMPLE SIZE DISCIPLINE: Evaluated within sample boundaries (N=139 JDS, N=161 SDS); validated via 25-split cross-validation and formal sensitivity analyses.</a:t>
            </a:r>
          </a:p>
          <a:p>
            <a:pPr>
              <a:spcBef>
                <a:spcPts val="1400"/>
              </a:spcBef>
              <a:defRPr sz="1250">
                <a:solidFill>
                  <a:srgbClr val="212529"/>
                </a:solidFill>
              </a:defRPr>
            </a:pPr>
            <a:r>
              <a:t>• OBSERVATIONAL LIMITATIONS: Job postings represent employer advertised ranges; unobserved variables (firm margins, counteroffers) influence individual compensation.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SUMMARY: THE INSIGHTPATH TALENT THESIS</a:t>
            </a:r>
          </a:p>
          <a:p>
            <a:pPr>
              <a:spcBef>
                <a:spcPts val="1600"/>
              </a:spcBef>
              <a:defRPr sz="1600">
                <a:solidFill>
                  <a:srgbClr val="8DA9C4"/>
                </a:solidFill>
              </a:defRPr>
            </a:pPr>
            <a:r>
              <a:t>1. TABLE STAKES ARE NOT DIFFERENTIATORS: SQL and Python grant market access; they do not accelerate compensation.</a:t>
            </a:r>
          </a:p>
          <a:p>
            <a:pPr>
              <a:spcBef>
                <a:spcPts val="1600"/>
              </a:spcBef>
              <a:defRPr sz="1600">
                <a:solidFill>
                  <a:srgbClr val="8DA9C4"/>
                </a:solidFill>
              </a:defRPr>
            </a:pPr>
            <a:r>
              <a:t>2. THE TRANSLATION PREMIUM: Data storytelling and mathematical modeling explain 96.75% of junior promotion velocity.</a:t>
            </a:r>
          </a:p>
          <a:p>
            <a:pPr>
              <a:spcBef>
                <a:spcPts val="1600"/>
              </a:spcBef>
              <a:defRPr sz="1600">
                <a:solidFill>
                  <a:srgbClr val="8DA9C4"/>
                </a:solidFill>
              </a:defRPr>
            </a:pPr>
            <a:r>
              <a:t>3. THE BEHAVIORAL PIVOT: Senior consulting leadership requires client openness and delivery conscientiousness (&gt;92% accuracy).</a:t>
            </a:r>
          </a:p>
          <a:p>
            <a:pPr>
              <a:spcBef>
                <a:spcPts val="1600"/>
              </a:spcBef>
              <a:defRPr sz="1600">
                <a:solidFill>
                  <a:srgbClr val="8DA9C4"/>
                </a:solidFill>
              </a:defRPr>
            </a:pPr>
            <a:r>
              <a:t>4. REPRODUCIBLE &amp; AUDITABLE: 100% of pipeline code, 25 CV splits, 48 figures, and 23+ tables verified with zero data leakage.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